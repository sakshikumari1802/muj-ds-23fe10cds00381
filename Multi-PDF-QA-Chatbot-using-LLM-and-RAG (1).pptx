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ologica"/>
      <p:regular r:id="rId201314"/>
    </p:embeddedFont>
    <p:embeddedFont>
      <p:font typeface="Geologica Medium"/>
      <p:regular r:id="rId201315"/>
    </p:embeddedFont>
    <p:embeddedFont>
      <p:font typeface="Geologica SemiBold"/>
      <p:regular r:id="rId201316"/>
    </p:embeddedFont>
    <p:embeddedFont>
      <p:font typeface="Geologica Bold"/>
      <p:regular r:id="rId201317"/>
    </p:embeddedFont>
    <p:embeddedFont>
      <p:font typeface="Oxanium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>
              <a:alpha val="4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21284"/>
            <a:ext cx="792460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298700"/>
            <a:ext cx="7315017" cy="2593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7400" spc="-222" kern="10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MULTI-PDF QA</a:t>
            </a:r>
            <a:endParaRPr lang="en-US" sz="74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7400" spc="-222" kern="10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CHATBOT USING</a:t>
            </a:r>
            <a:endParaRPr lang="en-US" sz="74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7400" spc="-222" kern="10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LLM &amp; RAG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85" y="5089327"/>
            <a:ext cx="731501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An intelligent document question-answering system for interacting with multiple PDFs in natural language.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5827911"/>
            <a:ext cx="7315017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Presented by Sakshi Kumari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Computer Science &amp; Engineering – Data Science, Section 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83068" cy="6858000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1661517"/>
            <a:ext cx="485127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1789" y="1938933"/>
            <a:ext cx="4419489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100" dirty="0">
                <a:solidFill>
                  <a:srgbClr val="000000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MANUAL PDF</a:t>
            </a:r>
            <a:endParaRPr lang="en-US" sz="50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100" dirty="0">
                <a:solidFill>
                  <a:srgbClr val="000000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SEARCH BREAKS</a:t>
            </a:r>
            <a:endParaRPr lang="en-US" sz="50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100" dirty="0">
                <a:solidFill>
                  <a:srgbClr val="000000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DOWN AT SCALE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31789" y="5107583"/>
            <a:ext cx="1458380" cy="38100"/>
          </a:xfrm>
          <a:prstGeom prst="roundRect">
            <a:avLst>
              <a:gd name="adj" fmla="val 49999"/>
            </a:avLst>
          </a:prstGeom>
          <a:solidFill>
            <a:srgbClr val="071018"/>
          </a:solidFill>
          <a:ln/>
        </p:spPr>
      </p:sp>
      <p:sp>
        <p:nvSpPr>
          <p:cNvPr id="6" name="Shape 4"/>
          <p:cNvSpPr/>
          <p:nvPr/>
        </p:nvSpPr>
        <p:spPr>
          <a:xfrm>
            <a:off x="5587860" y="304800"/>
            <a:ext cx="839866" cy="1324372"/>
          </a:xfrm>
          <a:prstGeom prst="rect">
            <a:avLst/>
          </a:prstGeom>
          <a:solidFill>
            <a:srgbClr val="F2F7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0256" y="457200"/>
            <a:ext cx="507987" cy="50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27726" y="304800"/>
            <a:ext cx="5459177" cy="1324372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9" name="Text 6"/>
          <p:cNvSpPr/>
          <p:nvPr/>
        </p:nvSpPr>
        <p:spPr>
          <a:xfrm>
            <a:off x="6605521" y="482600"/>
            <a:ext cx="510358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Time-consuming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05521" y="890587"/>
            <a:ext cx="510358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Extracting information across multiple PDFs is time-consuming.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87860" y="1933972"/>
            <a:ext cx="839866" cy="1324372"/>
          </a:xfrm>
          <a:prstGeom prst="rect">
            <a:avLst/>
          </a:prstGeom>
          <a:solidFill>
            <a:srgbClr val="F2F7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256" y="2086372"/>
            <a:ext cx="507987" cy="508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27726" y="1933972"/>
            <a:ext cx="5459177" cy="1324372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14" name="Text 10"/>
          <p:cNvSpPr/>
          <p:nvPr/>
        </p:nvSpPr>
        <p:spPr>
          <a:xfrm>
            <a:off x="6605521" y="2111772"/>
            <a:ext cx="510358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Keyword limits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605521" y="2519759"/>
            <a:ext cx="510358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Keyword search often misses meaning behind a question.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587860" y="3563144"/>
            <a:ext cx="839866" cy="1324372"/>
          </a:xfrm>
          <a:prstGeom prst="rect">
            <a:avLst/>
          </a:prstGeom>
          <a:solidFill>
            <a:srgbClr val="F2F7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256" y="3715544"/>
            <a:ext cx="507987" cy="5080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427726" y="3563144"/>
            <a:ext cx="5459177" cy="1324372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19" name="Text 14"/>
          <p:cNvSpPr/>
          <p:nvPr/>
        </p:nvSpPr>
        <p:spPr>
          <a:xfrm>
            <a:off x="6605521" y="3740944"/>
            <a:ext cx="510358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Too much context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605521" y="4148931"/>
            <a:ext cx="510358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Large documents contain more context than can be passed directly to an LLM.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587860" y="5127228"/>
            <a:ext cx="6299042" cy="1425972"/>
          </a:xfrm>
          <a:prstGeom prst="rect">
            <a:avLst/>
          </a:prstGeom>
          <a:solidFill>
            <a:srgbClr val="DDECEE"/>
          </a:solidFill>
          <a:ln/>
        </p:spPr>
      </p:sp>
      <p:sp>
        <p:nvSpPr>
          <p:cNvPr id="22" name="Text 17"/>
          <p:cNvSpPr/>
          <p:nvPr/>
        </p:nvSpPr>
        <p:spPr>
          <a:xfrm>
            <a:off x="5816454" y="5355828"/>
            <a:ext cx="584185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Retrieval changes the equation.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5816454" y="5763816"/>
            <a:ext cx="584185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The solution retrieves only the most relevant passages, then generates a concise answer.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FROM FILES TO ANSWERS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system turns multiple PDFs into one searchable knowledge base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2017316"/>
            <a:ext cx="84006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301776"/>
            <a:ext cx="1950592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442666"/>
            <a:ext cx="1950592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Upload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2850654"/>
            <a:ext cx="1950592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Process multiple PDF documents.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64969" y="2017316"/>
            <a:ext cx="86516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64969" y="2301776"/>
            <a:ext cx="1950592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0" name="Text 8"/>
          <p:cNvSpPr/>
          <p:nvPr/>
        </p:nvSpPr>
        <p:spPr>
          <a:xfrm>
            <a:off x="2864969" y="2442666"/>
            <a:ext cx="1950691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Extract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64969" y="2850654"/>
            <a:ext cx="1950691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Split text into manageable chunks.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452" y="2017316"/>
            <a:ext cx="8671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452" y="2301776"/>
            <a:ext cx="1950592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452" y="2442666"/>
            <a:ext cx="1950691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Embed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452" y="2850654"/>
            <a:ext cx="1950691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Convert chunks into semantic vector embeddings.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75936" y="2017316"/>
            <a:ext cx="8728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75936" y="2301776"/>
            <a:ext cx="1950592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8" name="Text 16"/>
          <p:cNvSpPr/>
          <p:nvPr/>
        </p:nvSpPr>
        <p:spPr>
          <a:xfrm>
            <a:off x="7375936" y="2442666"/>
            <a:ext cx="1950691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75936" y="2850654"/>
            <a:ext cx="1950691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Find relevant context for each user query.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31419" y="2017316"/>
            <a:ext cx="86794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31419" y="2301776"/>
            <a:ext cx="1950592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22" name="Text 20"/>
          <p:cNvSpPr/>
          <p:nvPr/>
        </p:nvSpPr>
        <p:spPr>
          <a:xfrm>
            <a:off x="9631419" y="2442666"/>
            <a:ext cx="1950691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Generate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31419" y="2850654"/>
            <a:ext cx="1950691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Produce a context-aware answer through an LLM.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482600"/>
            <a:ext cx="411469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55591" y="3421261"/>
            <a:ext cx="3759106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100" dirty="0">
                <a:solidFill>
                  <a:srgbClr val="000000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FIVE LAYERS</a:t>
            </a:r>
            <a:endParaRPr lang="en-US" sz="50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100" dirty="0">
                <a:solidFill>
                  <a:srgbClr val="000000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MAKE THE</a:t>
            </a:r>
            <a:endParaRPr lang="en-US" sz="50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100" dirty="0">
                <a:solidFill>
                  <a:srgbClr val="000000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CHATBOT WORK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55591" y="5954911"/>
            <a:ext cx="3759106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Each layer has one job. Together they form the product.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02077" y="539055"/>
            <a:ext cx="81129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81580" y="508000"/>
            <a:ext cx="647832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81580" y="915987"/>
            <a:ext cx="647832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Streamlit with a custom HTML and CSS chat experience.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02077" y="1702098"/>
            <a:ext cx="83321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06" y="1671042"/>
            <a:ext cx="6456399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06" y="2079030"/>
            <a:ext cx="645639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Python and PyPDF2 extract document text.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02077" y="2865239"/>
            <a:ext cx="835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5292" y="2834184"/>
            <a:ext cx="645461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Orchestration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5292" y="3242171"/>
            <a:ext cx="645461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LangChain manages document processing and the RAG pipeline.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2077" y="4028380"/>
            <a:ext cx="8398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10154" y="3997325"/>
            <a:ext cx="6449752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Embeddings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10154" y="4405313"/>
            <a:ext cx="644975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Sentence Transformers encode meaning.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02077" y="5191522"/>
            <a:ext cx="8355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5888" y="5160466"/>
            <a:ext cx="6454018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Search + inference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5888" y="5568454"/>
            <a:ext cx="645401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FAISS performs similarity retrieval; Hugging Face supplies LLM inference.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02077" y="1537692"/>
            <a:ext cx="6857828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902077" y="2700834"/>
            <a:ext cx="6857828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02077" y="3863975"/>
            <a:ext cx="6857828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902077" y="5027116"/>
            <a:ext cx="6857828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CORE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RAG connects retrieval to generation</a:t>
            </a:r>
            <a:endParaRPr lang="en-US" sz="3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389" y="1531541"/>
            <a:ext cx="7656916" cy="3301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84534" y="1922684"/>
            <a:ext cx="4210744" cy="21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450" spc="-26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Upload PDFs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784534" y="2688380"/>
            <a:ext cx="4210744" cy="21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450" spc="-26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Extract Text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784534" y="3446419"/>
            <a:ext cx="4210744" cy="21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450" spc="-26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Chunk Documents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784534" y="4204458"/>
            <a:ext cx="4210744" cy="21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450" spc="-26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Index &amp; Search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09585" y="5011241"/>
            <a:ext cx="6949207" cy="776089"/>
          </a:xfrm>
          <a:prstGeom prst="rect">
            <a:avLst/>
          </a:prstGeom>
          <a:solidFill>
            <a:srgbClr val="DDECEE"/>
          </a:solidFill>
          <a:ln/>
        </p:spPr>
      </p:sp>
      <p:sp>
        <p:nvSpPr>
          <p:cNvPr id="10" name="Text 7"/>
          <p:cNvSpPr/>
          <p:nvPr/>
        </p:nvSpPr>
        <p:spPr>
          <a:xfrm>
            <a:off x="838179" y="5189041"/>
            <a:ext cx="672061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RAG = Retrieval + Generation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87386" y="5189041"/>
            <a:ext cx="3566130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model answers from relevant document context instead of the full corpus.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82600"/>
            <a:ext cx="474968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3387" y="760016"/>
            <a:ext cx="4368691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Semantic retrieval is the core advantage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3387" y="5477371"/>
            <a:ext cx="4368691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The system compares meaning, not only matching words.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387" y="6215955"/>
            <a:ext cx="4749681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all-MiniLM-L6-v2 · FAISS · context-aware response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83068" y="0"/>
            <a:ext cx="6908627" cy="6858000"/>
          </a:xfrm>
          <a:prstGeom prst="rect">
            <a:avLst/>
          </a:prstGeom>
          <a:solidFill>
            <a:srgbClr val="F2F7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1934" y="279400"/>
            <a:ext cx="4190895" cy="41909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8819" y="942444"/>
            <a:ext cx="1348754" cy="116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800" spc="-14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Extraction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048819" y="1140423"/>
            <a:ext cx="1348754" cy="56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PyPDF2 extracts text and creates overlapping chunks.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081380" y="942444"/>
            <a:ext cx="1348754" cy="116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800" spc="-14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Embedding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081380" y="1140423"/>
            <a:ext cx="1348754" cy="56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all-MiniLM-L6-v2 converts each chunk into embeddings.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48819" y="2881502"/>
            <a:ext cx="1348754" cy="116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800" spc="-14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Retrieval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48819" y="3079481"/>
            <a:ext cx="1348754" cy="748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FAISS compares query embedding with stored chunk embeddings.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081380" y="2881502"/>
            <a:ext cx="1348754" cy="116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800" spc="-14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081380" y="3079481"/>
            <a:ext cx="1348754" cy="748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LLM receives retrieved context and produces a response.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RELIABILITY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Fallback models improve reliability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50591"/>
            <a:ext cx="5333867" cy="2196505"/>
          </a:xfrm>
          <a:prstGeom prst="roundRect">
            <a:avLst>
              <a:gd name="adj" fmla="val 520"/>
            </a:avLst>
          </a:prstGeom>
          <a:noFill/>
          <a:ln w="25399">
            <a:solidFill>
              <a:srgbClr val="3F4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578" y="1804591"/>
            <a:ext cx="50798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PRIMARY OPTIONS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578" y="2082006"/>
            <a:ext cx="4825879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Mistral 7B Instruct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3578" y="2578398"/>
            <a:ext cx="507987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Phi-3 Mini · Zephyr 7B · LLaMA 2 Chat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244" y="1550591"/>
            <a:ext cx="5333867" cy="2196505"/>
          </a:xfrm>
          <a:prstGeom prst="roundRect">
            <a:avLst>
              <a:gd name="adj" fmla="val 520"/>
            </a:avLst>
          </a:prstGeom>
          <a:noFill/>
          <a:ln w="25399">
            <a:solidFill>
              <a:srgbClr val="3F4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2237" y="1804591"/>
            <a:ext cx="50798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FALLBACK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02237" y="2082006"/>
            <a:ext cx="4825879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BART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02237" y="2578398"/>
            <a:ext cx="507987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Can serve as a summarization fallback.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585" y="4051895"/>
            <a:ext cx="5333867" cy="2196505"/>
          </a:xfrm>
          <a:prstGeom prst="roundRect">
            <a:avLst>
              <a:gd name="adj" fmla="val 520"/>
            </a:avLst>
          </a:prstGeom>
          <a:solidFill>
            <a:srgbClr val="DDECEE"/>
          </a:solidFill>
          <a:ln w="25399">
            <a:solidFill>
              <a:srgbClr val="3F48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578" y="4305895"/>
            <a:ext cx="50798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SEQUENTIAL RETRY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3578" y="4583311"/>
            <a:ext cx="4825879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Try what is available.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3578" y="5079702"/>
            <a:ext cx="482587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The application attempts available models sequentially when loading or inference fails.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8244" y="4051895"/>
            <a:ext cx="5333867" cy="2196505"/>
          </a:xfrm>
          <a:prstGeom prst="roundRect">
            <a:avLst>
              <a:gd name="adj" fmla="val 520"/>
            </a:avLst>
          </a:prstGeom>
          <a:noFill/>
          <a:ln w="25399">
            <a:solidFill>
              <a:srgbClr val="3F48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2237" y="4305895"/>
            <a:ext cx="50798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02237" y="4583311"/>
            <a:ext cx="4825879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Availability limits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02237" y="5079702"/>
            <a:ext cx="482587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This approach helps address limits in free-tier inference services.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263" cy="6858000"/>
          </a:xfrm>
          <a:prstGeom prst="rect">
            <a:avLst/>
          </a:prstGeom>
          <a:solidFill>
            <a:srgbClr val="DDECEE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431800"/>
            <a:ext cx="495287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387" y="709216"/>
            <a:ext cx="4597285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 simple interface hides a complex pipeline</a:t>
            </a:r>
            <a:endParaRPr lang="en-US" sz="3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87" y="2306280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971" y="2306241"/>
            <a:ext cx="3987700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Upload once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2971" y="2714228"/>
            <a:ext cx="398770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Process multiple PDFs with one click.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7" y="3534608"/>
            <a:ext cx="40639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2971" y="3534569"/>
            <a:ext cx="3987700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Ask naturally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142971" y="3942556"/>
            <a:ext cx="398770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Use natural language instead of relying on keywords.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5043428"/>
            <a:ext cx="406390" cy="406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2971" y="5043388"/>
            <a:ext cx="3987700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See the work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142971" y="5451376"/>
            <a:ext cx="3987700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Review semantic retrieval, short chat history, and processing feedback in one Streamlit interface.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263" y="0"/>
            <a:ext cx="6705432" cy="6858000"/>
          </a:xfrm>
          <a:prstGeom prst="rect">
            <a:avLst/>
          </a:prstGeom>
          <a:solidFill>
            <a:srgbClr val="F2F7F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263" y="0"/>
            <a:ext cx="6705432" cy="68580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33387" y="3325019"/>
            <a:ext cx="4597285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533387" y="4833838"/>
            <a:ext cx="4597285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0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381000"/>
            <a:ext cx="642603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CROSS-DOCUMENT QA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2588" y="658416"/>
            <a:ext cx="6070448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chatbot answers across documents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482588" y="1941116"/>
            <a:ext cx="607044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MULTI-DOCUMENT QUERY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2588" y="2253456"/>
            <a:ext cx="607044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“Summarize the key points from the research paper and the company policy.”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2588" y="3567609"/>
            <a:ext cx="607044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RESUME QUERY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2588" y="3879949"/>
            <a:ext cx="607044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“What programming languages are mentioned in the resume?”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588" y="5041801"/>
            <a:ext cx="6070448" cy="1384399"/>
          </a:xfrm>
          <a:custGeom>
            <a:avLst/>
            <a:gdLst/>
            <a:ahLst/>
            <a:cxnLst/>
            <a:rect l="l" t="t" r="r" b="b"/>
            <a:pathLst>
              <a:path w="6070448" h="1384399">
                <a:moveTo>
                  <a:pt x="0" y="0"/>
                </a:moveTo>
                <a:lnTo>
                  <a:pt x="6070448" y="0"/>
                </a:lnTo>
                <a:lnTo>
                  <a:pt x="6070448" y="1374874"/>
                </a:lnTo>
                <a:arcTo hR="9525" wR="9525" stAng="0" swAng="5400000"/>
                <a:lnTo>
                  <a:pt x="9525" y="1384399"/>
                </a:lnTo>
                <a:arcTo hR="9525" w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DDECEE"/>
          </a:solidFill>
          <a:ln/>
        </p:spPr>
      </p:sp>
      <p:sp>
        <p:nvSpPr>
          <p:cNvPr id="9" name="Text 7"/>
          <p:cNvSpPr/>
          <p:nvPr/>
        </p:nvSpPr>
        <p:spPr>
          <a:xfrm>
            <a:off x="711182" y="5194201"/>
            <a:ext cx="584185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EXAMPLE RESPONSE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1182" y="5471616"/>
            <a:ext cx="5613260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Python, C++, Java, and SQL.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solidFill>
            <a:srgbClr val="F2F7F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82588" y="3408859"/>
            <a:ext cx="6070448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82588" y="5035451"/>
            <a:ext cx="6070448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0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099" cy="6858000"/>
          </a:xfrm>
          <a:prstGeom prst="rect">
            <a:avLst/>
          </a:prstGeom>
          <a:solidFill>
            <a:srgbClr val="63D9F2"/>
          </a:solidFill>
          <a:ln/>
        </p:spPr>
      </p:sp>
      <p:sp>
        <p:nvSpPr>
          <p:cNvPr id="3" name="Text 1"/>
          <p:cNvSpPr/>
          <p:nvPr/>
        </p:nvSpPr>
        <p:spPr>
          <a:xfrm>
            <a:off x="571486" y="1851025"/>
            <a:ext cx="836909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PROJECT OUTCOME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486" y="2128441"/>
            <a:ext cx="7937301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100" dirty="0">
                <a:solidFill>
                  <a:srgbClr val="F2F7F6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THE PROJECT PROVES AN END-TO-END RAG WORKFLOW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571486" y="4128691"/>
            <a:ext cx="2619309" cy="38100"/>
          </a:xfrm>
          <a:prstGeom prst="roundRect">
            <a:avLst>
              <a:gd name="adj" fmla="val 49999"/>
            </a:avLst>
          </a:prstGeom>
          <a:solidFill>
            <a:srgbClr val="071018"/>
          </a:solidFill>
          <a:ln/>
        </p:spPr>
      </p:sp>
      <p:sp>
        <p:nvSpPr>
          <p:cNvPr id="6" name="Text 4"/>
          <p:cNvSpPr/>
          <p:nvPr/>
        </p:nvSpPr>
        <p:spPr>
          <a:xfrm>
            <a:off x="571486" y="4395391"/>
            <a:ext cx="7937301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Document retrieval meets LLM-based answer generation through FAISS and an accessible Streamlit interface.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94570" y="2715419"/>
            <a:ext cx="299712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94570" y="3091259"/>
            <a:ext cx="2743131" cy="1051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Cloud deployment · evaluation metrics · authentication · persistent vector storage · DOCX/PPTX support · source tracking · stronger open-source or hosted LLMs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2026-10-05T19:05:49Z</dcterms:created>
  <dcterms:modified xsi:type="dcterms:W3CDTF">2026-10-05T19:05:49Z</dcterms:modified>
</cp:coreProperties>
</file>